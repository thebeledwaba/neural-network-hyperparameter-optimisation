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08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C9E55">
              <a:alpha val="20000"/>
            </a:srgbClr>
          </a:solidFill>
          <a:ln w="12700">
            <a:solidFill>
              <a:srgbClr val="2C9E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B7A3E">
              <a:alpha val="15000"/>
            </a:srgbClr>
          </a:solidFill>
          <a:ln w="12700">
            <a:solidFill>
              <a:srgbClr val="1B7A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MICROSYSTEMS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Greenhouse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Control System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Thebe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Ledwaba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Precious Skosana |  Vaal University of Technology  | 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840480"/>
            <a:ext cx="1234440" cy="3200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1148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3840480"/>
            <a:ext cx="1234440" cy="3200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DHT22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3840480"/>
            <a:ext cx="1234440" cy="3200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4612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MQTT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1234440" cy="3200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3840480"/>
            <a:ext cx="1234440" cy="3200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08076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Mosquitto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474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54864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Manual 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Traditional greenhouses require constant human presence to check temperature and humidity inefficient and error-prone.</a:t>
            </a:r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3474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51760" cy="54864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Crop Loss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Without real-time alerts, environmental changes go undetected, leading to crop damage or total loss.</a:t>
            </a:r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651760" cy="3474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080760" y="868680"/>
            <a:ext cx="2651760" cy="54864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08076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No Remote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</a:rPr>
              <a:t>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6B35"/>
                </a:solidFill>
              </a:rPr>
              <a:t>Solution: An automated IoT system that monitors, alerts, and allows remote hardware control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1371600"/>
          </a:xfrm>
          <a:prstGeom prst="rect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DHT22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Temp &amp; Humidity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33172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1005840"/>
            <a:ext cx="1737360" cy="137160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24028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WiFi + MQTT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77640" y="169164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976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240" y="1005840"/>
            <a:ext cx="173736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Mosquitto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Broker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Local PC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005840"/>
            <a:ext cx="1737360" cy="13716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7220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WebSocket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Hardware Outputs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9202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Green LED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Env Stable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23160" y="3108960"/>
            <a:ext cx="19202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42316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LED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Alert State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3108960"/>
            <a:ext cx="19202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7200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Buzzer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Audio Alert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0840" y="3108960"/>
            <a:ext cx="19202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7208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LCD Display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I2C 16×2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↑ Bidirectional Control: Dashboard → MQTT → ESP32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Hardware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38912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ESP32 Dev 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Main microcontroller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Dual-core 240MHz, WiFi 802.11 b/g/n, 38 GPIO pins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DHT22 Sensor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Environmental sensing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Temp: -40 to 80°C (±0.5°C), Humidity: 0–100% RH (±2–5%)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38912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I²C LCD 16×2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Local 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788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16 columns × 2 rows, I²C address 0x27, backlight enabled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73752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LEDs + Buzzer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Alert outputs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Green GPIO5, Red GPIO2, Buzzer GPIO23 — threshold driven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38912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Push Button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User input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GPIO18, INPUT_PULLUP, toggles LCD between live and average 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160520" cy="118872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73152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73752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Resistors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9E55"/>
                </a:solidFill>
              </a:rPr>
              <a:t>Current limiting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220Ω on LED lines — protects GPIO pins (max 12mA)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Software &amp; IoT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384048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FIRMWARE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B35"/>
                </a:solidFill>
              </a:rPr>
              <a:t>Library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234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B35"/>
                </a:solidFill>
              </a:rPr>
              <a:t>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DHT.h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645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Sensor reading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3931920" cy="384048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2057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LiquidCrystal_I2C.h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057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LCD 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PubSubClient.h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468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MQTT client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3931920" cy="384048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8803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ArduinoJson.h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880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JSON payloads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WiFi.h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291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Network stack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3977640" cy="384048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777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DASHBOARD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39776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937760" y="12344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B35"/>
                </a:solidFill>
              </a:rPr>
              <a:t>Feature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1234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B35"/>
                </a:solidFill>
              </a:rPr>
              <a:t>Detail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618488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0" name="Text 28"/>
          <p:cNvSpPr/>
          <p:nvPr/>
        </p:nvSpPr>
        <p:spPr>
          <a:xfrm>
            <a:off x="4937760" y="1618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Live sensor feed &amp; Remote Monitoring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6184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2s update cycle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002536"/>
            <a:ext cx="3977640" cy="384048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937760" y="20025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Alert banner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20025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Threshold driven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386584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37760" y="23865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Buzzer toggle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2386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Remote on/off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770632"/>
            <a:ext cx="3977640" cy="384048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937760" y="2770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LED override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78040" y="27706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Manual control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154680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3776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LCD messaging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3154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16-char remote msg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538728"/>
            <a:ext cx="3977640" cy="384048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37760" y="3538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Threshold editor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78040" y="3538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Live update to ESP32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922776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937760" y="3922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Reading history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78040" y="392277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Last 20 readings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MQTT Communication Protocol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B35"/>
                </a:solidFill>
              </a:rPr>
              <a:t>PUBLISH  →  greenhouse/data  (every 2 seconds)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"temperature": 21.4,  "humidity": 62,  "avg_temp": 21.2,  "avg_hum": 63,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"alert": false,  "button": 0,  "thr_temp": 32.0,  "thr_hum": 40.0,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"buzzer_manual": false,  "led_manual": false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SUBSCRIBE  ←  greenhouse/control  (bidirectional commands)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41148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{"command":"buzzer","value":true}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Turn buzzer ON remotely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34472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{"command":"threshold_temp","value":28.0}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3447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Update temp threshold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22776"/>
            <a:ext cx="8595360" cy="41148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11480" y="39227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{"command":"lcd_message","value":"Check water!"}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39227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Send message to LCD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398264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11480" y="439826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{"command":"led","red":true,"green":false}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43982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Override LED states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&amp; Live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" cy="1234440"/>
          </a:xfrm>
          <a:prstGeom prst="rect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Real-Time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DHT22 reads every 2s. Live temp and humidity streamed over WiFi via MQTT to dashboard.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50292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0916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868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Threshold Alerts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2161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Exceeding thresholds triggers red LED, buzzer, and alert banner on dashboard simultaneously.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50292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258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Remote Hardware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06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sends commands to silence buzzer, override LEDs, and update thresholds in real 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67128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09160" y="2167128"/>
            <a:ext cx="50292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09160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58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LCD Remote Messaging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06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Type any 16-char message on dashboard — it appears on the physical LCD within milliseconds.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502920" cy="1234440"/>
          </a:xfrm>
          <a:prstGeom prst="rect">
            <a:avLst/>
          </a:prstGeom>
          <a:solidFill>
            <a:srgbClr val="0D6B35"/>
          </a:solidFill>
          <a:ln w="12700">
            <a:solidFill>
              <a:srgbClr val="0D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" y="3968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648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Running Averages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959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ESP32 computes rolling averages over 10 readings. Button toggles LCD between live and average view.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57016"/>
            <a:ext cx="4160520" cy="1234440"/>
          </a:xfrm>
          <a:prstGeom prst="rect">
            <a:avLst/>
          </a:prstGeom>
          <a:solidFill>
            <a:srgbClr val="F8FA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09160" y="3557016"/>
            <a:ext cx="502920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09160" y="3968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648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Offline Resilience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9959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If WiFi drops, sensor monitoring, alerts, buzzer, and LCD continue operating uninterrupted.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7A3E">
              <a:alpha val="15000"/>
            </a:srgbClr>
          </a:solidFill>
          <a:ln w="12700">
            <a:solidFill>
              <a:srgbClr val="1B7A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568782" y="1537274"/>
            <a:ext cx="3200400" cy="3200400"/>
          </a:xfrm>
          <a:prstGeom prst="ellipse">
            <a:avLst/>
          </a:prstGeom>
          <a:solidFill>
            <a:srgbClr val="2C9E55">
              <a:alpha val="20000"/>
            </a:srgbClr>
          </a:solidFill>
          <a:ln w="12700">
            <a:solidFill>
              <a:srgbClr val="2C9E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0"/>
          </a:xfrm>
          <a:prstGeom prst="line">
            <a:avLst/>
          </a:prstGeom>
          <a:noFill/>
          <a:ln w="381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" cy="274320"/>
          </a:xfrm>
          <a:prstGeom prst="ellipse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 IoT monitoring system on ESP32 with real sensor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274320" cy="274320"/>
          </a:xfrm>
          <a:prstGeom prst="ellipse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bidirectional communication enables remote hardware control from a web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274320" cy="274320"/>
          </a:xfrm>
          <a:prstGeom prst="ellipse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68680" y="268833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 offline-resilient — sensor logic continues even if WiFi drops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83864"/>
            <a:ext cx="274320" cy="274320"/>
          </a:xfrm>
          <a:prstGeom prst="ellipse">
            <a:avLst/>
          </a:prstGeom>
          <a:solidFill>
            <a:srgbClr val="2C9E55"/>
          </a:solidFill>
          <a:ln w="12700">
            <a:solidFill>
              <a:srgbClr val="2C9E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8680" y="34381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extensible: actuators (pump, fan) and data logging can be layered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 |  Questions Welcome  |  Thebe </a:t>
            </a:r>
            <a:r>
              <a:rPr lang="en-US" sz="1300" b="1" dirty="0" err="1">
                <a:solidFill>
                  <a:srgbClr val="FFFFFF"/>
                </a:solidFill>
              </a:rPr>
              <a:t>Ledwaba</a:t>
            </a:r>
            <a:r>
              <a:rPr lang="en-US" sz="1300" b="1" dirty="0">
                <a:solidFill>
                  <a:srgbClr val="FFFFFF"/>
                </a:solidFill>
              </a:rPr>
              <a:t>  and Precious Skosana— VUT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674</Words>
  <Application>Microsoft Office PowerPoint</Application>
  <PresentationFormat>On-screen Show 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Greenhouse Monitoring &amp; Control System</dc:title>
  <dc:subject>PptxGenJS Presentation</dc:subject>
  <dc:creator>Thebe Ledwaba</dc:creator>
  <cp:lastModifiedBy>Thebe Ledwaba</cp:lastModifiedBy>
  <cp:revision>5</cp:revision>
  <dcterms:created xsi:type="dcterms:W3CDTF">2026-05-17T13:27:10Z</dcterms:created>
  <dcterms:modified xsi:type="dcterms:W3CDTF">2026-05-18T15:02:44Z</dcterms:modified>
</cp:coreProperties>
</file>